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Dice</c:v>
                </c:pt>
              </c:strCache>
            </c:strRef>
          </c:tx>
          <c:spPr>
            <a:solidFill>
              <a:srgbClr val="F96167">
                <a:alpha val="90000"/>
              </a:srgbClr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Naive Baseline</c:v>
                  </c:pt>
                  <c:pt idx="1">
                    <c:v>A: Scratch</c:v>
                  </c:pt>
                  <c:pt idx="2">
                    <c:v>B: ImageNet</c:v>
                  </c:pt>
                  <c:pt idx="3">
                    <c:v>C: ISIC Pretrain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0.139</c:v>
                </c:pt>
                <c:pt idx="1">
                  <c:v>0.728</c:v>
                </c:pt>
                <c:pt idx="2">
                  <c:v>0.718</c:v>
                </c:pt>
                <c:pt idx="3">
                  <c:v>0.721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4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3657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5943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8229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0" y="10515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3657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561320" y="5943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561320" y="8229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561320" y="10515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789920" y="3657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789920" y="5943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789920" y="8229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789920" y="10515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018520" y="3657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018520" y="5943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018520" y="8229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018520" y="10515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247120" y="3657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247120" y="5943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247120" y="8229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247120" y="10515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475720" y="3657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475720" y="5943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475720" y="8229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475720" y="10515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Pretraining Actually Help?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for Breast Ultrasound Segmentation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31520" y="3840480"/>
            <a:ext cx="9144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023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XIAOYANG SU</a:t>
            </a:r>
            <a:endParaRPr lang="en-US" sz="1400" dirty="0"/>
          </a:p>
          <a:p>
            <a:pPr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MSDS 6393 Deep Learning  ·  Spring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943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one of the most common cancers worldwide.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is a key screening tool — but identifying tumor boundaries by hand is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and subjective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CNN to automatically segment tumor regions, supporting faster and more consistent diagnosis.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949440" y="1463040"/>
            <a:ext cx="4572000" cy="3657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0" y="1463040"/>
            <a:ext cx="73152" cy="3657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23760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datasets are small.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223760" y="269748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annotation is expensive.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transfer learning compensate? And does pretraining on medical images work better than ImageNet?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— Pixel-Level Segmentation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3200400" cy="1645920"/>
          </a:xfrm>
          <a:prstGeom prst="rect">
            <a:avLst/>
          </a:prstGeom>
          <a:solidFill>
            <a:srgbClr val="CADCFC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128×128 RGB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image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23360" y="3017520"/>
            <a:ext cx="548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0" y="2560320"/>
            <a:ext cx="3017520" cy="1645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 CNN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0" y="3017520"/>
            <a:ext cx="548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8229600" y="2560320"/>
            <a:ext cx="3200400" cy="1645920"/>
          </a:xfrm>
          <a:prstGeom prst="rect">
            <a:avLst/>
          </a:prstGeom>
          <a:solidFill>
            <a:srgbClr val="D1FAE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128×128 mask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2960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tumor, 0 = background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gets a prediction. Ground-truth labels come from expert radiologists.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Helps radiologists assess tumor size, shape, and boundaries faster and more consistently.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— BUSI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Ultrasound Images dataset (Kaggle)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032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554480"/>
            <a:ext cx="256032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3756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554480"/>
            <a:ext cx="256032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12648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554480"/>
            <a:ext cx="256032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91540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697480"/>
            <a:ext cx="11064240" cy="36576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ultrasound images. Bottom: ground-truth masks (white = tumor).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— U-Net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 CNN with skip connections, designed for medical segmentation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1737360" cy="457200"/>
          </a:xfrm>
          <a:prstGeom prst="rect">
            <a:avLst/>
          </a:prstGeom>
          <a:solidFill>
            <a:srgbClr val="CADCFC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128×128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508760" y="2423160"/>
            <a:ext cx="1463040" cy="457200"/>
          </a:xfrm>
          <a:prstGeom prst="rect">
            <a:avLst/>
          </a:prstGeom>
          <a:solidFill>
            <a:srgbClr val="CADCFC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45920" y="3017520"/>
            <a:ext cx="1188720" cy="457200"/>
          </a:xfrm>
          <a:prstGeom prst="rect">
            <a:avLst/>
          </a:prstGeom>
          <a:solidFill>
            <a:srgbClr val="CADCFC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3017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32×32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83080" y="3611880"/>
            <a:ext cx="914400" cy="457200"/>
          </a:xfrm>
          <a:prstGeom prst="rect">
            <a:avLst/>
          </a:prstGeom>
          <a:solidFill>
            <a:srgbClr val="CADCFC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3611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16×16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74520" y="4297680"/>
            <a:ext cx="73152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1874520" y="4297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0" y="3611880"/>
            <a:ext cx="1737360" cy="45720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0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128×128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23960" y="3017520"/>
            <a:ext cx="1463040" cy="45720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23960" y="3017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61120" y="2423160"/>
            <a:ext cx="1188720" cy="45720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32×32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98280" y="1828800"/>
            <a:ext cx="914400" cy="45720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16×16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08960" y="2057400"/>
            <a:ext cx="5577840" cy="1783080"/>
          </a:xfrm>
          <a:prstGeom prst="line">
            <a:avLst/>
          </a:prstGeom>
          <a:noFill/>
          <a:ln w="19050">
            <a:solidFill>
              <a:srgbClr val="10B981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2971800" y="2651760"/>
            <a:ext cx="5852160" cy="594360"/>
          </a:xfrm>
          <a:prstGeom prst="line">
            <a:avLst/>
          </a:prstGeom>
          <a:noFill/>
          <a:ln w="19050">
            <a:solidFill>
              <a:srgbClr val="10B981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2834640" y="3246120"/>
            <a:ext cx="6126480" cy="-594360"/>
          </a:xfrm>
          <a:prstGeom prst="line">
            <a:avLst/>
          </a:prstGeom>
          <a:noFill/>
          <a:ln w="19050">
            <a:solidFill>
              <a:srgbClr val="10B981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2697480" y="3840480"/>
            <a:ext cx="6400800" cy="-1783080"/>
          </a:xfrm>
          <a:prstGeom prst="line">
            <a:avLst/>
          </a:prstGeom>
          <a:noFill/>
          <a:ln w="19050">
            <a:solidFill>
              <a:srgbClr val="10B981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91440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(VGG16)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800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(most abstract features)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40880" y="4910328"/>
            <a:ext cx="27432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315200" y="4800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(preserve spatial detail)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5166360"/>
            <a:ext cx="11064240" cy="1325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5349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565099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progressively compresses input via conv layers + max pooling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389120" y="5349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389120" y="565099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fine spatial details directly to decoder — sharp boundaries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46720" y="5349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46720" y="565099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 Conv + sigmoid → per-pixel P(tumor) ∈ [0, 1]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 — BCE + Dice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73152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CLASS IMBALANCE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Tumors take up only 10–20% of the image. A model predicting 'all background' would get 80–90% pixel accuracy — but miss every tumor.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394960" cy="1828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88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(Binary Cross-Entropy)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Per-pixel classification loss.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pixel-level accuracy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Dominated by background pixels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651760"/>
            <a:ext cx="5394960" cy="1828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788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Loss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Dice = (2 × |A ∩ B|) / (|A| + |B|)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36118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overlap directly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class imbalance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1106424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7548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Combine: BCE + Dice gets pixel accuracy AND overlap optimization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5852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activation: 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68880" y="5852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(binary segmentation, each pixel independent) — not softmax (would force classes to sum to 1).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Experiments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testing whether transfer learning helps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32120" cy="23774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109728" cy="23774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1×1 Conv only.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encoder, no decoder.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532120" cy="23774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554480"/>
            <a:ext cx="109728" cy="2377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737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20116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83680" y="26060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init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3063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full U-Net from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on BUSI.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5532120" cy="23774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069080"/>
            <a:ext cx="109728" cy="2377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51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45262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68680" y="5120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(14M images)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55778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pretrained on natural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then fine-tuned.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4069080"/>
            <a:ext cx="5532120" cy="23774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Shape 21"/>
          <p:cNvSpPr/>
          <p:nvPr/>
        </p:nvSpPr>
        <p:spPr>
          <a:xfrm>
            <a:off x="6263640" y="4069080"/>
            <a:ext cx="109728" cy="2377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4251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45262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ISIC Pretrain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583680" y="5120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ISIC 2019 (8K medical)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55778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pretrained on skin lesion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then fine-tuned.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 — Two-Phase Fine-Tuning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fine-tune without destroying the pretrained weights (Experiments B and C)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3200400"/>
          </a:xfrm>
          <a:prstGeom prst="rect">
            <a:avLst/>
          </a:prstGeom>
          <a:solidFill>
            <a:srgbClr val="CADCFC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encoder ❄️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Train decoder only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Learning rate: 1e-3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~10–15 epochs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</a:t>
            </a:r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random decoder stabilize first, so its untrained gradients don't destroy the pretrained encoder.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2743200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6675120" y="1737360"/>
            <a:ext cx="4937760" cy="320040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49440" y="2286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all 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949440" y="28803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Fine-tune end-to-end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Learning rate: 1e-4 (10× lower)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Until early stopping triggers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</a:t>
            </a:r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lr lets the encoder adapt to ultrasound features without overwriting useful pretrained patterns.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303520"/>
            <a:ext cx="1106424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 (patience = 7)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stops when validation loss hasn't improved for 7 consecutive epochs. Best weights are automatically restored to prevent overfitting.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Test Set Dice Coefficient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777240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595360" y="1280160"/>
            <a:ext cx="3017520" cy="5029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2"/>
          <p:cNvSpPr/>
          <p:nvPr/>
        </p:nvSpPr>
        <p:spPr>
          <a:xfrm>
            <a:off x="877824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77824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works.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78240" y="22402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 vs 0.14 — the gap over the naive baseline is huge. The models genuinely learn segmentation.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869680" y="3383280"/>
            <a:ext cx="2560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pretraining...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778240" y="3931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help. All three U-Net variants score within 0.01 of each other.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869680" y="4983480"/>
            <a:ext cx="2560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Surprising?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778240" y="5532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The next slides explain why this happens.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Curves &amp; Predictions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U-Net variants converge to similar validation Dice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554480"/>
            <a:ext cx="6858000" cy="310896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15200" y="1554480"/>
            <a:ext cx="4572000" cy="4572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5760" y="4754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Dice and loss over epochs. Early stopping triggered between epochs 27–34.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548640" y="5394960"/>
            <a:ext cx="640080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4"/>
          <p:cNvSpPr/>
          <p:nvPr/>
        </p:nvSpPr>
        <p:spPr>
          <a:xfrm>
            <a:off x="822960" y="55321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A (scratch) converges slightly faster early on — it updates the entire network from epoch 1, while B and C spend their first 10–15 epochs with a frozen encoder.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Didn't Transfer Learning Help?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532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0200" y="16916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gap is too large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is grayscale, noisy, low-contrast — fundamentally different from natural photos (ImageNet) or dermoscopy (ISIC).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532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64592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0" y="16916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is robust on small data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37960" y="242316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let the decoder access spatial details directly, reducing dependency on the encoder's learned representations.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532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00200" y="41605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mismatch (Exp C)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22960" y="489204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ISIC pretraining was classification (global features). The target task is segmentation (local features). Mismatch limits transfer.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3840480"/>
            <a:ext cx="5532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411480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0" y="41605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ceiling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537960" y="489204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images at 128×128. Fine details that could differentiate models may be lost — all three may be hitting the same limit.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reasons reinforce each other — together, they explain why pretraining didn't move the needle.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109728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breast ultrasound segmentation at this scale,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does not outperform training from scratch.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5212080" cy="24688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+ skip connections is robust enough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learn from just 452 training images.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Practitioners may not need complex pretraining pipelines for moderately-sized medical segmentation tasks.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3200400"/>
            <a:ext cx="5212080" cy="24688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3383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TRY NEXT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374904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resolution (256×256)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break the performance ceiling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Segmentation-based pretraining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 ISIC masks, not classification labels)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more reliable comparisons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4023360"/>
            <a:ext cx="118872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Xiaoyang Su   ·   MSDS 6393 Deep Learning   ·   Spring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 Learning for Breast Ultrasound Segmentation</dc:title>
  <dc:subject>PptxGenJS Presentation</dc:subject>
  <dc:creator>Xiaoyang Su</dc:creator>
  <cp:lastModifiedBy>Xiaoyang Su</cp:lastModifiedBy>
  <cp:revision>1</cp:revision>
  <dcterms:created xsi:type="dcterms:W3CDTF">2026-05-04T17:23:53Z</dcterms:created>
  <dcterms:modified xsi:type="dcterms:W3CDTF">2026-05-04T17:23:53Z</dcterms:modified>
</cp:coreProperties>
</file>