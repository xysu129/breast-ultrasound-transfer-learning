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5" d="100"/>
          <a:sy n="115" d="100"/>
        </p:scale>
        <p:origin x="496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Dice</c:v>
                </c:pt>
              </c:strCache>
            </c:strRef>
          </c:tx>
          <c:spPr>
            <a:solidFill>
              <a:srgbClr val="F96167">
                <a:alpha val="90000"/>
              </a:srgbClr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9616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AF8-A944-9481-AF26B381C35A}"/>
              </c:ext>
            </c:extLst>
          </c:dPt>
          <c:dPt>
            <c:idx val="1"/>
            <c:invertIfNegative val="0"/>
            <c:bubble3D val="0"/>
            <c:spPr>
              <a:solidFill>
                <a:srgbClr val="3B82F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AF8-A944-9481-AF26B381C35A}"/>
              </c:ext>
            </c:extLst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AF8-A944-9481-AF26B381C35A}"/>
              </c:ext>
            </c:extLst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AF8-A944-9481-AF26B381C35A}"/>
              </c:ext>
            </c:extLst>
          </c:dPt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1" i="0" u="none" strike="noStrike">
                    <a:solidFill>
                      <a:srgbClr val="1E2761"/>
                    </a:solidFill>
                    <a:latin typeface="Arial"/>
                  </a:defRPr>
                </a:pPr>
                <a:endParaRPr lang="zh-CN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Naive Baseline</c:v>
                </c:pt>
                <c:pt idx="1">
                  <c:v>A: Scratch</c:v>
                </c:pt>
                <c:pt idx="2">
                  <c:v>B: ImageNet</c:v>
                </c:pt>
                <c:pt idx="3">
                  <c:v>C: ISIC Pretrain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0.13900000000000001</c:v>
                </c:pt>
                <c:pt idx="1">
                  <c:v>0.72799999999999998</c:v>
                </c:pt>
                <c:pt idx="2">
                  <c:v>0.71799999999999997</c:v>
                </c:pt>
                <c:pt idx="3">
                  <c:v>0.72099999999999997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7AF8-A944-9481-AF26B381C35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8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743310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365760"/>
            <a:ext cx="73152" cy="73152"/>
          </a:xfrm>
          <a:prstGeom prst="ellipse">
            <a:avLst/>
          </a:prstGeom>
          <a:solidFill>
            <a:srgbClr val="CADCFC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10332720" y="594360"/>
            <a:ext cx="73152" cy="73152"/>
          </a:xfrm>
          <a:prstGeom prst="ellipse">
            <a:avLst/>
          </a:prstGeom>
          <a:solidFill>
            <a:srgbClr val="CADCFC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10332720" y="822960"/>
            <a:ext cx="73152" cy="73152"/>
          </a:xfrm>
          <a:prstGeom prst="ellipse">
            <a:avLst/>
          </a:prstGeom>
          <a:solidFill>
            <a:srgbClr val="CADCFC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10332720" y="1051560"/>
            <a:ext cx="73152" cy="73152"/>
          </a:xfrm>
          <a:prstGeom prst="ellipse">
            <a:avLst/>
          </a:prstGeom>
          <a:solidFill>
            <a:srgbClr val="CADCFC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10561320" y="365760"/>
            <a:ext cx="73152" cy="73152"/>
          </a:xfrm>
          <a:prstGeom prst="ellipse">
            <a:avLst/>
          </a:prstGeom>
          <a:solidFill>
            <a:srgbClr val="CADCFC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10561320" y="594360"/>
            <a:ext cx="73152" cy="73152"/>
          </a:xfrm>
          <a:prstGeom prst="ellipse">
            <a:avLst/>
          </a:prstGeom>
          <a:solidFill>
            <a:srgbClr val="CADCFC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Shape 6"/>
          <p:cNvSpPr/>
          <p:nvPr/>
        </p:nvSpPr>
        <p:spPr>
          <a:xfrm>
            <a:off x="10561320" y="822960"/>
            <a:ext cx="73152" cy="73152"/>
          </a:xfrm>
          <a:prstGeom prst="ellipse">
            <a:avLst/>
          </a:prstGeom>
          <a:solidFill>
            <a:srgbClr val="CADCFC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Shape 7"/>
          <p:cNvSpPr/>
          <p:nvPr/>
        </p:nvSpPr>
        <p:spPr>
          <a:xfrm>
            <a:off x="10561320" y="1051560"/>
            <a:ext cx="73152" cy="73152"/>
          </a:xfrm>
          <a:prstGeom prst="ellipse">
            <a:avLst/>
          </a:prstGeom>
          <a:solidFill>
            <a:srgbClr val="CADCFC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Shape 8"/>
          <p:cNvSpPr/>
          <p:nvPr/>
        </p:nvSpPr>
        <p:spPr>
          <a:xfrm>
            <a:off x="10789920" y="365760"/>
            <a:ext cx="73152" cy="73152"/>
          </a:xfrm>
          <a:prstGeom prst="ellipse">
            <a:avLst/>
          </a:prstGeom>
          <a:solidFill>
            <a:srgbClr val="CADCFC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Shape 9"/>
          <p:cNvSpPr/>
          <p:nvPr/>
        </p:nvSpPr>
        <p:spPr>
          <a:xfrm>
            <a:off x="10789920" y="594360"/>
            <a:ext cx="73152" cy="73152"/>
          </a:xfrm>
          <a:prstGeom prst="ellipse">
            <a:avLst/>
          </a:prstGeom>
          <a:solidFill>
            <a:srgbClr val="CADCFC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Shape 10"/>
          <p:cNvSpPr/>
          <p:nvPr/>
        </p:nvSpPr>
        <p:spPr>
          <a:xfrm>
            <a:off x="10789920" y="822960"/>
            <a:ext cx="73152" cy="73152"/>
          </a:xfrm>
          <a:prstGeom prst="ellipse">
            <a:avLst/>
          </a:prstGeom>
          <a:solidFill>
            <a:srgbClr val="CADCFC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11"/>
          <p:cNvSpPr/>
          <p:nvPr/>
        </p:nvSpPr>
        <p:spPr>
          <a:xfrm>
            <a:off x="10789920" y="1051560"/>
            <a:ext cx="73152" cy="73152"/>
          </a:xfrm>
          <a:prstGeom prst="ellipse">
            <a:avLst/>
          </a:prstGeom>
          <a:solidFill>
            <a:srgbClr val="CADCFC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Shape 12"/>
          <p:cNvSpPr/>
          <p:nvPr/>
        </p:nvSpPr>
        <p:spPr>
          <a:xfrm>
            <a:off x="11018520" y="365760"/>
            <a:ext cx="73152" cy="73152"/>
          </a:xfrm>
          <a:prstGeom prst="ellipse">
            <a:avLst/>
          </a:prstGeom>
          <a:solidFill>
            <a:srgbClr val="CADCFC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11018520" y="594360"/>
            <a:ext cx="73152" cy="73152"/>
          </a:xfrm>
          <a:prstGeom prst="ellipse">
            <a:avLst/>
          </a:prstGeom>
          <a:solidFill>
            <a:srgbClr val="CADCFC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Shape 14"/>
          <p:cNvSpPr/>
          <p:nvPr/>
        </p:nvSpPr>
        <p:spPr>
          <a:xfrm>
            <a:off x="11018520" y="822960"/>
            <a:ext cx="73152" cy="73152"/>
          </a:xfrm>
          <a:prstGeom prst="ellipse">
            <a:avLst/>
          </a:prstGeom>
          <a:solidFill>
            <a:srgbClr val="CADCFC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5"/>
          <p:cNvSpPr/>
          <p:nvPr/>
        </p:nvSpPr>
        <p:spPr>
          <a:xfrm>
            <a:off x="11018520" y="1051560"/>
            <a:ext cx="73152" cy="73152"/>
          </a:xfrm>
          <a:prstGeom prst="ellipse">
            <a:avLst/>
          </a:prstGeom>
          <a:solidFill>
            <a:srgbClr val="CADCFC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Shape 16"/>
          <p:cNvSpPr/>
          <p:nvPr/>
        </p:nvSpPr>
        <p:spPr>
          <a:xfrm>
            <a:off x="11247120" y="365760"/>
            <a:ext cx="73152" cy="73152"/>
          </a:xfrm>
          <a:prstGeom prst="ellipse">
            <a:avLst/>
          </a:prstGeom>
          <a:solidFill>
            <a:srgbClr val="CADCFC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Shape 17"/>
          <p:cNvSpPr/>
          <p:nvPr/>
        </p:nvSpPr>
        <p:spPr>
          <a:xfrm>
            <a:off x="11247120" y="594360"/>
            <a:ext cx="73152" cy="73152"/>
          </a:xfrm>
          <a:prstGeom prst="ellipse">
            <a:avLst/>
          </a:prstGeom>
          <a:solidFill>
            <a:srgbClr val="CADCFC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Shape 18"/>
          <p:cNvSpPr/>
          <p:nvPr/>
        </p:nvSpPr>
        <p:spPr>
          <a:xfrm>
            <a:off x="11247120" y="822960"/>
            <a:ext cx="73152" cy="73152"/>
          </a:xfrm>
          <a:prstGeom prst="ellipse">
            <a:avLst/>
          </a:prstGeom>
          <a:solidFill>
            <a:srgbClr val="CADCFC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Shape 19"/>
          <p:cNvSpPr/>
          <p:nvPr/>
        </p:nvSpPr>
        <p:spPr>
          <a:xfrm>
            <a:off x="11247120" y="1051560"/>
            <a:ext cx="73152" cy="73152"/>
          </a:xfrm>
          <a:prstGeom prst="ellipse">
            <a:avLst/>
          </a:prstGeom>
          <a:solidFill>
            <a:srgbClr val="CADCFC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2" name="Shape 20"/>
          <p:cNvSpPr/>
          <p:nvPr/>
        </p:nvSpPr>
        <p:spPr>
          <a:xfrm>
            <a:off x="11475720" y="365760"/>
            <a:ext cx="73152" cy="73152"/>
          </a:xfrm>
          <a:prstGeom prst="ellipse">
            <a:avLst/>
          </a:prstGeom>
          <a:solidFill>
            <a:srgbClr val="CADCFC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Shape 21"/>
          <p:cNvSpPr/>
          <p:nvPr/>
        </p:nvSpPr>
        <p:spPr>
          <a:xfrm>
            <a:off x="11475720" y="594360"/>
            <a:ext cx="73152" cy="73152"/>
          </a:xfrm>
          <a:prstGeom prst="ellipse">
            <a:avLst/>
          </a:prstGeom>
          <a:solidFill>
            <a:srgbClr val="CADCFC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Shape 22"/>
          <p:cNvSpPr/>
          <p:nvPr/>
        </p:nvSpPr>
        <p:spPr>
          <a:xfrm>
            <a:off x="11475720" y="822960"/>
            <a:ext cx="73152" cy="73152"/>
          </a:xfrm>
          <a:prstGeom prst="ellipse">
            <a:avLst/>
          </a:prstGeom>
          <a:solidFill>
            <a:srgbClr val="CADCFC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Shape 23"/>
          <p:cNvSpPr/>
          <p:nvPr/>
        </p:nvSpPr>
        <p:spPr>
          <a:xfrm>
            <a:off x="11475720" y="1051560"/>
            <a:ext cx="73152" cy="73152"/>
          </a:xfrm>
          <a:prstGeom prst="ellipse">
            <a:avLst/>
          </a:prstGeom>
          <a:solidFill>
            <a:srgbClr val="CADCFC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4"/>
          <p:cNvSpPr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Pretraining Actually Help?</a:t>
            </a:r>
            <a:endParaRPr lang="en-US" sz="4400" dirty="0"/>
          </a:p>
        </p:txBody>
      </p:sp>
      <p:sp>
        <p:nvSpPr>
          <p:cNvPr id="27" name="Text 25"/>
          <p:cNvSpPr/>
          <p:nvPr/>
        </p:nvSpPr>
        <p:spPr>
          <a:xfrm>
            <a:off x="731520" y="30175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 Breast Ultrasound Segmentation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731520" y="3840480"/>
            <a:ext cx="914400" cy="54864"/>
          </a:xfrm>
          <a:prstGeom prst="rect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/>
          <p:nvPr/>
        </p:nvSpPr>
        <p:spPr>
          <a:xfrm>
            <a:off x="731520" y="40233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XIAOYANG SU</a:t>
            </a:r>
            <a:endParaRPr lang="en-US" sz="1400" dirty="0"/>
          </a:p>
          <a:p>
            <a:pPr marL="0" indent="0">
              <a:buNone/>
            </a:pPr>
            <a:r>
              <a:rPr lang="en-US" sz="1400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Topics  ·  Spring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5943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cancer </a:t>
            </a: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one of the most common cancers worldwide.</a:t>
            </a:r>
            <a:endParaRPr lang="en-US" sz="1800" dirty="0"/>
          </a:p>
          <a:p>
            <a:pPr marL="0" indent="0">
              <a:spcAft>
                <a:spcPts val="600"/>
              </a:spcAft>
              <a:buNone/>
            </a:pPr>
            <a:endParaRPr lang="en-US" sz="18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Ultrasound is a key screening tool — but identifying tumor boundaries by hand is </a:t>
            </a: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and subjective</a:t>
            </a: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  <a:p>
            <a:pPr marL="0" indent="0">
              <a:spcAft>
                <a:spcPts val="600"/>
              </a:spcAft>
              <a:buNone/>
            </a:pPr>
            <a:endParaRPr lang="en-US" sz="18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</a:t>
            </a: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CNN to automatically segment tumor regions, supporting faster and more consistent diagnosis.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949440" y="1463040"/>
            <a:ext cx="4572000" cy="365760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6949440" y="1463040"/>
            <a:ext cx="73152" cy="3657600"/>
          </a:xfrm>
          <a:prstGeom prst="rect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7223760" y="16916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223760" y="21031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datasets are small.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223760" y="2697480"/>
            <a:ext cx="4114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annotation is expensive.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transfer learning compensate? And does pretraining on medical images work better than ImageNet?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Task — Pixel-Level Segmentation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2560320"/>
            <a:ext cx="3200400" cy="1645920"/>
          </a:xfrm>
          <a:prstGeom prst="rect">
            <a:avLst/>
          </a:prstGeom>
          <a:solidFill>
            <a:srgbClr val="CADCFC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731520" y="26974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30175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128×128 RGB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34747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ultrasound image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023360" y="3017520"/>
            <a:ext cx="548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4572000" y="2560320"/>
            <a:ext cx="3017520" cy="164592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4572000" y="26974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0" y="30175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U-Net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572000" y="34747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encoder-decoder CNN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680960" y="3017520"/>
            <a:ext cx="548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8229600" y="2560320"/>
            <a:ext cx="3200400" cy="1645920"/>
          </a:xfrm>
          <a:prstGeom prst="rect">
            <a:avLst/>
          </a:prstGeom>
          <a:solidFill>
            <a:srgbClr val="D1FAE5"/>
          </a:solidFill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8229600" y="26974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0" y="30175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128×128 mask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229600" y="34747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= tumor, 0 = background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4754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pixel gets a prediction. Ground-truth labels come from expert radiologists.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Helps radiologists assess tumor size, shape, and boundaries faster and more consistently.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— BUSI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Ultrasound Images dataset (Kaggle)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560320" cy="91440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647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21031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images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37560" y="1554480"/>
            <a:ext cx="2560320" cy="91440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3337560" y="16002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452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337560" y="21031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26480" y="1554480"/>
            <a:ext cx="2560320" cy="91440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6126480" y="16002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6126480" y="21031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915400" y="1554480"/>
            <a:ext cx="2560320" cy="91440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8915400" y="16002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915400" y="21031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200" dirty="0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8640" y="2697480"/>
            <a:ext cx="11064240" cy="365760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Top: ultrasound images. Bottom: ground-truth masks (white = tumor).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Architecture — U-Net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Encoder-decoder CNN with skip connections, designed for medical segmentation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371600" y="1828800"/>
            <a:ext cx="1737360" cy="457200"/>
          </a:xfrm>
          <a:prstGeom prst="rect">
            <a:avLst/>
          </a:prstGeom>
          <a:solidFill>
            <a:srgbClr val="CADCFC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1371600" y="1828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128×128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508760" y="2423160"/>
            <a:ext cx="1463040" cy="457200"/>
          </a:xfrm>
          <a:prstGeom prst="rect">
            <a:avLst/>
          </a:prstGeom>
          <a:solidFill>
            <a:srgbClr val="CADCFC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1508760" y="24231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64×64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645920" y="3017520"/>
            <a:ext cx="1188720" cy="457200"/>
          </a:xfrm>
          <a:prstGeom prst="rect">
            <a:avLst/>
          </a:prstGeom>
          <a:solidFill>
            <a:srgbClr val="CADCFC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1645920" y="30175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32×32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783080" y="3611880"/>
            <a:ext cx="914400" cy="457200"/>
          </a:xfrm>
          <a:prstGeom prst="rect">
            <a:avLst/>
          </a:prstGeom>
          <a:solidFill>
            <a:srgbClr val="CADCFC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1783080" y="36118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16×16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874520" y="4297680"/>
            <a:ext cx="731520" cy="457200"/>
          </a:xfrm>
          <a:prstGeom prst="rect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1874520" y="42976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8×8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686800" y="3611880"/>
            <a:ext cx="1737360" cy="457200"/>
          </a:xfrm>
          <a:prstGeom prst="rect">
            <a:avLst/>
          </a:prstGeom>
          <a:solidFill>
            <a:srgbClr val="FEF3C7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8686800" y="36118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128×128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823960" y="3017520"/>
            <a:ext cx="1463040" cy="457200"/>
          </a:xfrm>
          <a:prstGeom prst="rect">
            <a:avLst/>
          </a:prstGeom>
          <a:solidFill>
            <a:srgbClr val="FEF3C7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8823960" y="30175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64×64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961120" y="2423160"/>
            <a:ext cx="1188720" cy="457200"/>
          </a:xfrm>
          <a:prstGeom prst="rect">
            <a:avLst/>
          </a:prstGeom>
          <a:solidFill>
            <a:srgbClr val="FEF3C7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8961120" y="24231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32×32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098280" y="1828800"/>
            <a:ext cx="914400" cy="457200"/>
          </a:xfrm>
          <a:prstGeom prst="rect">
            <a:avLst/>
          </a:prstGeom>
          <a:solidFill>
            <a:srgbClr val="FEF3C7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9098280" y="18288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16×16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108960" y="2057400"/>
            <a:ext cx="5577840" cy="1783080"/>
          </a:xfrm>
          <a:prstGeom prst="line">
            <a:avLst/>
          </a:prstGeom>
          <a:noFill/>
          <a:ln w="19050">
            <a:solidFill>
              <a:srgbClr val="10B981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Shape 21"/>
          <p:cNvSpPr/>
          <p:nvPr/>
        </p:nvSpPr>
        <p:spPr>
          <a:xfrm>
            <a:off x="2971800" y="2651760"/>
            <a:ext cx="5852160" cy="594360"/>
          </a:xfrm>
          <a:prstGeom prst="line">
            <a:avLst/>
          </a:prstGeom>
          <a:noFill/>
          <a:ln w="19050">
            <a:solidFill>
              <a:srgbClr val="10B981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Shape 22"/>
          <p:cNvSpPr/>
          <p:nvPr/>
        </p:nvSpPr>
        <p:spPr>
          <a:xfrm>
            <a:off x="2834640" y="3246120"/>
            <a:ext cx="6126480" cy="0"/>
          </a:xfrm>
          <a:prstGeom prst="line">
            <a:avLst/>
          </a:prstGeom>
          <a:noFill/>
          <a:ln w="19050">
            <a:solidFill>
              <a:srgbClr val="10B981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Shape 23"/>
          <p:cNvSpPr/>
          <p:nvPr/>
        </p:nvSpPr>
        <p:spPr>
          <a:xfrm>
            <a:off x="2697480" y="3840480"/>
            <a:ext cx="6400800" cy="0"/>
          </a:xfrm>
          <a:prstGeom prst="line">
            <a:avLst/>
          </a:prstGeom>
          <a:noFill/>
          <a:ln w="19050">
            <a:solidFill>
              <a:srgbClr val="10B981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4"/>
          <p:cNvSpPr/>
          <p:nvPr/>
        </p:nvSpPr>
        <p:spPr>
          <a:xfrm>
            <a:off x="914400" y="14630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 (VGG16)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229600" y="14630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" y="480060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i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Bottleneck (most abstract features)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40880" y="4910328"/>
            <a:ext cx="274320" cy="0"/>
          </a:xfrm>
          <a:prstGeom prst="line">
            <a:avLst/>
          </a:prstGeom>
          <a:noFill/>
          <a:ln w="25400">
            <a:solidFill>
              <a:srgbClr val="10B981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/>
          <p:nvPr/>
        </p:nvSpPr>
        <p:spPr>
          <a:xfrm>
            <a:off x="7315200" y="480060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connections (preserve spatial detail)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48640" y="5166360"/>
            <a:ext cx="11064240" cy="132588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2" name="Text 30"/>
          <p:cNvSpPr/>
          <p:nvPr/>
        </p:nvSpPr>
        <p:spPr>
          <a:xfrm>
            <a:off x="731520" y="53492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31520" y="5650992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VGG16 progressively compresses input via conv layers + max pooling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389120" y="53492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CONNECTIONS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389120" y="5650992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fine spatial details directly to decoder — sharp boundaries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8046720" y="53492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046720" y="5650992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1×1 Conv + sigmoid → per-pixel P(tumor) ∈ [0, 1]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Function — BCE + Dice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1064240" cy="914400"/>
          </a:xfrm>
          <a:prstGeom prst="rect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73152" cy="9144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822960" y="15087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CLASS IMBALANCE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1783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Tumors take up only 10–20% of the image. A model predicting 'all background' would get 80–90% pixel accuracy — but miss every tumor.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5394960" cy="182880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822960" y="27889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BCE (Binary Cross-Entropy)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3200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Per-pixel classification loss.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361188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for pixel-level accuracy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</a:t>
            </a: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Dominated by background pixels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7920" y="2651760"/>
            <a:ext cx="5394960" cy="182880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6492240" y="27889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 Loss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92240" y="3200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Dice = (2 × |A ∩ B|) / (|A| + |B|)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92240" y="361188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Optimizes overlap directly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class imbalance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754880"/>
            <a:ext cx="11064240" cy="8229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548640" y="47548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Combine: BCE + Dice gets pixel accuracy AND overlap optimization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48640" y="5852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activation: 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468880" y="5852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sigmoid (binary segmentation, each pixel independent) — not softmax (would force classes to sum to 1).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Experiments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Systematically testing whether transfer learning helps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532120" cy="237744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109728" cy="2377440"/>
          </a:xfrm>
          <a:prstGeom prst="rect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868680" y="17373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" y="201168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68680" y="260604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  </a:t>
            </a: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306324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1×1 Conv only.</a:t>
            </a:r>
            <a:endParaRPr lang="en-US" sz="1300" dirty="0"/>
          </a:p>
          <a:p>
            <a:pPr marL="0" indent="0">
              <a:buNone/>
            </a:pPr>
            <a:r>
              <a:rPr lang="en-US" sz="13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encoder, no decoder.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554480"/>
            <a:ext cx="5532120" cy="237744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Shape 9"/>
          <p:cNvSpPr/>
          <p:nvPr/>
        </p:nvSpPr>
        <p:spPr>
          <a:xfrm>
            <a:off x="6263640" y="1554480"/>
            <a:ext cx="109728" cy="237744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6583680" y="17373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 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583680" y="201168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Scratch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583680" y="260604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  </a:t>
            </a: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init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83680" y="306324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full U-Net from</a:t>
            </a:r>
            <a:endParaRPr lang="en-US" sz="1300" dirty="0"/>
          </a:p>
          <a:p>
            <a:pPr marL="0" indent="0">
              <a:buNone/>
            </a:pPr>
            <a:r>
              <a:rPr lang="en-US" sz="13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scratch on BUSI.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069080"/>
            <a:ext cx="5532120" cy="237744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5"/>
          <p:cNvSpPr/>
          <p:nvPr/>
        </p:nvSpPr>
        <p:spPr>
          <a:xfrm>
            <a:off x="548640" y="4069080"/>
            <a:ext cx="109728" cy="23774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868680" y="42519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 B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8680" y="452628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ImageNet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68680" y="512064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  </a:t>
            </a: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ImageNet (14M images)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68680" y="557784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VGG16 pretrained on natural</a:t>
            </a:r>
            <a:endParaRPr lang="en-US" sz="1300" dirty="0"/>
          </a:p>
          <a:p>
            <a:pPr marL="0" indent="0">
              <a:buNone/>
            </a:pPr>
            <a:r>
              <a:rPr lang="en-US" sz="13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images, then fine-tuned.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63640" y="4069080"/>
            <a:ext cx="5532120" cy="237744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Shape 21"/>
          <p:cNvSpPr/>
          <p:nvPr/>
        </p:nvSpPr>
        <p:spPr>
          <a:xfrm>
            <a:off x="6263640" y="4069080"/>
            <a:ext cx="109728" cy="23774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6583680" y="42519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 C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83680" y="452628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ISIC Pretrain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6583680" y="512064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  </a:t>
            </a: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ISIC 2019 (8K medical)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83680" y="557784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VGG16 pretrained on skin lesion</a:t>
            </a:r>
            <a:endParaRPr lang="en-US" sz="1300" dirty="0"/>
          </a:p>
          <a:p>
            <a:pPr marL="0" indent="0">
              <a:buNone/>
            </a:pPr>
            <a:r>
              <a:rPr lang="en-US" sz="13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classification, then fine-tuned.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Strategy — Two-Phase Fine-Tuning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fine-tune without destroying the pretrained weights (Experiments B and C)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03520" cy="3200400"/>
          </a:xfrm>
          <a:prstGeom prst="rect">
            <a:avLst/>
          </a:prstGeom>
          <a:solidFill>
            <a:srgbClr val="CADCFC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822960" y="1920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encoder ❄️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288036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Train decoder only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Learning rate: 1e-3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~10–15 epochs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Why? </a:t>
            </a:r>
            <a:r>
              <a:rPr lang="en-US" sz="13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Lets the random decoder stabilize first, so its untrained gradients don't destroy the pretrained encoder.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0" y="2743200"/>
            <a:ext cx="731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4400" dirty="0"/>
          </a:p>
        </p:txBody>
      </p:sp>
      <p:sp>
        <p:nvSpPr>
          <p:cNvPr id="9" name="Shape 7"/>
          <p:cNvSpPr/>
          <p:nvPr/>
        </p:nvSpPr>
        <p:spPr>
          <a:xfrm>
            <a:off x="6675120" y="1737360"/>
            <a:ext cx="4937760" cy="3200400"/>
          </a:xfrm>
          <a:prstGeom prst="rect">
            <a:avLst/>
          </a:prstGeom>
          <a:solidFill>
            <a:srgbClr val="FEF3C7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6949440" y="1920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949440" y="22860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Unfreeze all 🔓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949440" y="288036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Fine-tune end-to-end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Learning rate: 1e-4 (10× lower)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Until early stopping triggers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Why? </a:t>
            </a:r>
            <a:r>
              <a:rPr lang="en-US" sz="13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lr lets the encoder adapt to ultrasound features without overwriting useful pretrained patterns.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5303520"/>
            <a:ext cx="11064240" cy="118872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822960" y="5440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Stopping  (patience = 7)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stops when validation loss hasn't improved for 7 consecutive epochs. Best weights are automatically restored to prevent overfitting.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Test Set Dice Coefficient</a:t>
            </a:r>
            <a:endParaRPr lang="en-US" sz="32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548640" y="1280160"/>
          <a:ext cx="7772400" cy="5029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Shape 1"/>
          <p:cNvSpPr/>
          <p:nvPr/>
        </p:nvSpPr>
        <p:spPr>
          <a:xfrm>
            <a:off x="8595360" y="1280160"/>
            <a:ext cx="3017520" cy="502920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2"/>
          <p:cNvSpPr/>
          <p:nvPr/>
        </p:nvSpPr>
        <p:spPr>
          <a:xfrm>
            <a:off x="8778240" y="1417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OBSERVATIONS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778240" y="1828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U-Net works.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778240" y="224028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 vs 0.14 — the gap over the naive baseline is huge. The models genuinely learn segmentation.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8869680" y="3383280"/>
            <a:ext cx="2560320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6"/>
          <p:cNvSpPr/>
          <p:nvPr/>
        </p:nvSpPr>
        <p:spPr>
          <a:xfrm>
            <a:off x="8778240" y="3520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pretraining...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778240" y="3931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doesn't help. All three U-Net variants score within 0.01 of each other.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869680" y="4983480"/>
            <a:ext cx="2560320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ext 9"/>
          <p:cNvSpPr/>
          <p:nvPr/>
        </p:nvSpPr>
        <p:spPr>
          <a:xfrm>
            <a:off x="8778240" y="5120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Surprising?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8778240" y="55321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Yes. The next slides explain why this happens.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Curves &amp; Predictions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U-Net variants converge to similar validation Dice</a:t>
            </a:r>
            <a:endParaRPr lang="en-US" sz="1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1554480"/>
            <a:ext cx="6858000" cy="3108960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315200" y="1554480"/>
            <a:ext cx="4572000" cy="45720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65760" y="475488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Dice and loss over epochs. Early stopping triggered between epochs 27–34.</a:t>
            </a:r>
            <a:endParaRPr lang="en-US" sz="1200" dirty="0"/>
          </a:p>
        </p:txBody>
      </p:sp>
      <p:sp>
        <p:nvSpPr>
          <p:cNvPr id="7" name="Shape 3"/>
          <p:cNvSpPr/>
          <p:nvPr/>
        </p:nvSpPr>
        <p:spPr>
          <a:xfrm>
            <a:off x="548640" y="5394960"/>
            <a:ext cx="6400800" cy="109728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4"/>
          <p:cNvSpPr/>
          <p:nvPr/>
        </p:nvSpPr>
        <p:spPr>
          <a:xfrm>
            <a:off x="822960" y="553212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  </a:t>
            </a: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A (scratch) converges slightly faster early on — it updates the entire network from epoch 1, while B and C spend their first 10–15 epochs with a frozen encoder.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Didn't Transfer Learning Help?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5321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822960" y="1645920"/>
            <a:ext cx="640080" cy="640080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82296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00200" y="169164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gap is too large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502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Ultrasound is grayscale, noisy, low-contrast — fundamentally different from natural photos (ImageNet) or dermoscopy (ISIC).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63640" y="1371600"/>
            <a:ext cx="55321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Shape 7"/>
          <p:cNvSpPr/>
          <p:nvPr/>
        </p:nvSpPr>
        <p:spPr>
          <a:xfrm>
            <a:off x="6537960" y="1645920"/>
            <a:ext cx="640080" cy="64008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653796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315200" y="169164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U-Net is robust on small data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537960" y="2423160"/>
            <a:ext cx="502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connections let the decoder access spatial details directly, reducing dependency on the encoder's learned representations.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840480"/>
            <a:ext cx="55321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Shape 12"/>
          <p:cNvSpPr/>
          <p:nvPr/>
        </p:nvSpPr>
        <p:spPr>
          <a:xfrm>
            <a:off x="822960" y="411480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822960" y="4114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600200" y="416052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mismatch (Exp C)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22960" y="4892040"/>
            <a:ext cx="502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ISIC pretraining was classification (global features). The target task is segmentation (local features). Mismatch limits transfer.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63640" y="3840480"/>
            <a:ext cx="55321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Shape 17"/>
          <p:cNvSpPr/>
          <p:nvPr/>
        </p:nvSpPr>
        <p:spPr>
          <a:xfrm>
            <a:off x="6537960" y="4114800"/>
            <a:ext cx="640080" cy="640080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6537960" y="4114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315200" y="416052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 ceiling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537960" y="4892040"/>
            <a:ext cx="502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images at 128×128. Fine details that could differentiate models may be lost — all three may be hitting the same limit.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reasons reinforce each other — together, they explain why pretraining didn't move the needle.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1417320"/>
            <a:ext cx="1097280" cy="54864"/>
          </a:xfrm>
          <a:prstGeom prst="rect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breast ultrasound segmentation at this scale,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does not outperform training from scratch.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3200400"/>
            <a:ext cx="5212080" cy="246888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914400" y="33832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MEANS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374904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U-Net + skip connections is robust enough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learn from just 452 training images.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Practitioners may not need complex pretraining pipelines for moderately-sized medical segmentation tasks.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3200400"/>
            <a:ext cx="5212080" cy="246888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6400800" y="33832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I'D TRY NEXT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0" y="374904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resolution (256×256)</a:t>
            </a:r>
            <a:endParaRPr lang="en-US" sz="13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break the performance ceiling</a:t>
            </a:r>
            <a:endParaRPr lang="en-US" sz="1300" dirty="0"/>
          </a:p>
          <a:p>
            <a:pPr marL="0" indent="0">
              <a:spcAft>
                <a:spcPts val="100"/>
              </a:spcAft>
              <a:buNone/>
            </a:pPr>
            <a:endParaRPr lang="en-US" sz="13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Segmentation-based pretraining</a:t>
            </a:r>
            <a:endParaRPr lang="en-US" sz="13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(use ISIC masks, not classification labels)</a:t>
            </a:r>
            <a:endParaRPr lang="en-US" sz="1300" dirty="0"/>
          </a:p>
          <a:p>
            <a:pPr marL="0" indent="0">
              <a:spcAft>
                <a:spcPts val="100"/>
              </a:spcAft>
              <a:buNone/>
            </a:pPr>
            <a:endParaRPr lang="en-US" sz="13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Cross-validation</a:t>
            </a:r>
            <a:endParaRPr lang="en-US" sz="13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more reliable comparisons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0" y="3858768"/>
            <a:ext cx="1188720" cy="54864"/>
          </a:xfrm>
          <a:prstGeom prst="rect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731520" y="25603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you.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731520" y="42976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kern="0" spc="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Xiaoyang Su   ·   Special Topics   ·   University of St. Thomas   ·   Spring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949</Words>
  <Application>Microsoft Macintosh PowerPoint</Application>
  <PresentationFormat>宽屏</PresentationFormat>
  <Paragraphs>174</Paragraphs>
  <Slides>13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7" baseType="lpstr">
      <vt:lpstr>Arial</vt:lpstr>
      <vt:lpstr>Calibri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Transfer Learning for Breast Ultrasound Segmentation</dc:title>
  <dc:subject>PptxGenJS Presentation</dc:subject>
  <dc:creator>Xiaoyang Su</dc:creator>
  <cp:lastModifiedBy>Su, Xiaoyang</cp:lastModifiedBy>
  <cp:revision>2</cp:revision>
  <dcterms:created xsi:type="dcterms:W3CDTF">2026-05-05T04:26:10Z</dcterms:created>
  <dcterms:modified xsi:type="dcterms:W3CDTF">2026-05-05T04:33:04Z</dcterms:modified>
</cp:coreProperties>
</file>